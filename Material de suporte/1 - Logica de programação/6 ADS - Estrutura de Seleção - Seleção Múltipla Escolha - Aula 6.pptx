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831" r:id="rId2"/>
    <p:sldMasterId id="2147483819" r:id="rId3"/>
    <p:sldMasterId id="2147483807" r:id="rId4"/>
  </p:sldMasterIdLst>
  <p:notesMasterIdLst>
    <p:notesMasterId r:id="rId29"/>
  </p:notesMasterIdLst>
  <p:sldIdLst>
    <p:sldId id="385" r:id="rId5"/>
    <p:sldId id="594" r:id="rId6"/>
    <p:sldId id="595" r:id="rId7"/>
    <p:sldId id="596" r:id="rId8"/>
    <p:sldId id="597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599" r:id="rId19"/>
    <p:sldId id="600" r:id="rId20"/>
    <p:sldId id="602" r:id="rId21"/>
    <p:sldId id="603" r:id="rId22"/>
    <p:sldId id="604" r:id="rId23"/>
    <p:sldId id="605" r:id="rId24"/>
    <p:sldId id="397" r:id="rId25"/>
    <p:sldId id="616" r:id="rId26"/>
    <p:sldId id="615" r:id="rId27"/>
    <p:sldId id="295" r:id="rId28"/>
  </p:sldIdLst>
  <p:sldSz cx="9144000" cy="6858000" type="screen4x3"/>
  <p:notesSz cx="7104063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99"/>
    <a:srgbClr val="666699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237" autoAdjust="0"/>
  </p:normalViewPr>
  <p:slideViewPr>
    <p:cSldViewPr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4" d="100"/>
          <a:sy n="54" d="100"/>
        </p:scale>
        <p:origin x="204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8B225CB3-1B73-4401-B3D5-F2959F23FAE4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771DA31-711C-46B8-A9FC-0128039DC0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25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8A14C-5C3E-4023-91E0-5F72B45D529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F05DE-3E33-403F-92BE-D06CF7A4B84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15B91-D113-4F11-BFE1-6472CDF29B3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AF014-CAF8-4406-8304-6C3BA23FEB0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65AF3-DFAE-4D9C-9680-FC4D537E0F3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B3F86-E2E3-4550-A2FE-8922C8EE65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33400" y="1828800"/>
            <a:ext cx="8153400" cy="4038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E6CAF-0A3D-4F64-913E-385B06F35B7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473075"/>
            <a:ext cx="2038350" cy="53943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33400" y="473075"/>
            <a:ext cx="5962650" cy="5394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3570B-16E1-41F6-B66A-B724A9C7D65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34321-CB7A-4BEB-AC20-7A8D501FA7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655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533400" y="473075"/>
            <a:ext cx="8153400" cy="5394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5D804-D34D-4109-96D8-80DF69891BE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2038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409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152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633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553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617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470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008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006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4760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489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350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393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7325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6664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282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073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2457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579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6246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356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9337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9326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83209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7383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41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4209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4550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6493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1687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2059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5474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548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228600" y="228600"/>
            <a:ext cx="8686800" cy="5943600"/>
            <a:chOff x="144" y="144"/>
            <a:chExt cx="5472" cy="3744"/>
          </a:xfrm>
        </p:grpSpPr>
        <p:sp>
          <p:nvSpPr>
            <p:cNvPr id="4099" name="Rectangle 3"/>
            <p:cNvSpPr>
              <a:spLocks noChangeArrowheads="1"/>
            </p:cNvSpPr>
            <p:nvPr/>
          </p:nvSpPr>
          <p:spPr bwMode="auto">
            <a:xfrm>
              <a:off x="144" y="144"/>
              <a:ext cx="5472" cy="3744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sz="2400">
                <a:latin typeface="Times New Roman" pitchFamily="18" charset="0"/>
              </a:endParaRPr>
            </a:p>
          </p:txBody>
        </p:sp>
        <p:sp>
          <p:nvSpPr>
            <p:cNvPr id="4100" name="Rectangle 4"/>
            <p:cNvSpPr>
              <a:spLocks noChangeArrowheads="1"/>
            </p:cNvSpPr>
            <p:nvPr/>
          </p:nvSpPr>
          <p:spPr bwMode="blackWhite">
            <a:xfrm>
              <a:off x="193" y="193"/>
              <a:ext cx="5373" cy="3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sz="2400">
                <a:latin typeface="Times New Roman" pitchFamily="18" charset="0"/>
              </a:endParaRPr>
            </a:p>
          </p:txBody>
        </p:sp>
        <p:sp>
          <p:nvSpPr>
            <p:cNvPr id="4101" name="Line 5"/>
            <p:cNvSpPr>
              <a:spLocks noChangeShapeType="1"/>
            </p:cNvSpPr>
            <p:nvPr/>
          </p:nvSpPr>
          <p:spPr bwMode="auto">
            <a:xfrm>
              <a:off x="336" y="1092"/>
              <a:ext cx="51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F62A113D-81A0-4051-B49B-394A4076288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10" name="Imagem 9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53232"/>
            <a:ext cx="10477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/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358" y="434182"/>
            <a:ext cx="1057275" cy="1152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796" r:id="rId2"/>
    <p:sldLayoutId id="2147483797" r:id="rId3"/>
    <p:sldLayoutId id="2147483798" r:id="rId4"/>
    <p:sldLayoutId id="2147483800" r:id="rId5"/>
    <p:sldLayoutId id="2147483801" r:id="rId6"/>
    <p:sldLayoutId id="2147483802" r:id="rId7"/>
    <p:sldLayoutId id="2147483806" r:id="rId8"/>
    <p:sldLayoutId id="2147483803" r:id="rId9"/>
    <p:sldLayoutId id="2147483804" r:id="rId10"/>
    <p:sldLayoutId id="2147483844" r:id="rId11"/>
    <p:sldLayoutId id="2147483845" r:id="rId12"/>
  </p:sldLayoutIdLst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42DAD-BEE6-49E6-9A93-F7FAFA11B798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2C23E-2C98-4405-83F3-DF8516AB66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1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176FE-1507-45DF-8396-A64915DF6DE7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8838B-0D8D-4F41-A120-884BB91BABCF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/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306" y="464904"/>
            <a:ext cx="10477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565" y="476672"/>
            <a:ext cx="1057275" cy="1152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444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85095-59B1-4742-8150-2E607678C2CE}" type="datetimeFigureOut">
              <a:rPr lang="pt-BR" smtClean="0"/>
              <a:t>12/03/2019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19C5A-C573-4F67-AC08-82A6C6F90C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53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USNVVrWWEk&amp;list=PLogSH2Y0MF_rPY3z4Y_yVnBBf2NTyQR--&amp;index=4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J5nYOH1NwM&amp;list=PLtchvIBq_CRQvSbv3uu66yZIQURgqUDf4&amp;index=1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cessobiblioteca.fmu.br/?Biblioteca=Pearson" TargetMode="External"/><Relationship Id="rId2" Type="http://schemas.openxmlformats.org/officeDocument/2006/relationships/hyperlink" Target="http://portal.fmu.br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tângulo 3"/>
          <p:cNvSpPr>
            <a:spLocks noChangeArrowheads="1"/>
          </p:cNvSpPr>
          <p:nvPr/>
        </p:nvSpPr>
        <p:spPr bwMode="auto">
          <a:xfrm>
            <a:off x="323850" y="2263512"/>
            <a:ext cx="8496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006699"/>
                </a:solidFill>
              </a:rPr>
              <a:t>Estrutura de Seleção de </a:t>
            </a:r>
          </a:p>
          <a:p>
            <a:pPr algn="ctr"/>
            <a:r>
              <a:rPr lang="pt-BR" sz="3200" b="1" dirty="0">
                <a:solidFill>
                  <a:srgbClr val="006699"/>
                </a:solidFill>
              </a:rPr>
              <a:t>Múltipla Escolha</a:t>
            </a:r>
          </a:p>
          <a:p>
            <a:pPr algn="ctr"/>
            <a:endParaRPr lang="pt-BR" sz="2000" b="1" dirty="0">
              <a:solidFill>
                <a:srgbClr val="006699"/>
              </a:solidFill>
            </a:endParaRPr>
          </a:p>
          <a:p>
            <a:pPr algn="ctr"/>
            <a:r>
              <a:rPr lang="pt-BR" sz="3200" b="1" dirty="0">
                <a:solidFill>
                  <a:srgbClr val="006699"/>
                </a:solidFill>
              </a:rPr>
              <a:t>Estrutura Case (switch...case)</a:t>
            </a:r>
          </a:p>
          <a:p>
            <a:pPr algn="ctr"/>
            <a:endParaRPr lang="pt-BR" sz="2000" b="1" dirty="0">
              <a:solidFill>
                <a:srgbClr val="006699"/>
              </a:solidFill>
            </a:endParaRPr>
          </a:p>
          <a:p>
            <a:pPr algn="ctr"/>
            <a:r>
              <a:rPr lang="pt-BR" sz="3200" b="1" dirty="0">
                <a:solidFill>
                  <a:srgbClr val="006699"/>
                </a:solidFill>
              </a:rPr>
              <a:t>Aula 6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23850" y="4992706"/>
            <a:ext cx="8496300" cy="1008062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/>
            </a:pPr>
            <a:endParaRPr lang="pt-BR" sz="2400" kern="0" dirty="0">
              <a:solidFill>
                <a:srgbClr val="006699"/>
              </a:solidFill>
              <a:latin typeface="+mn-lt"/>
            </a:endParaRPr>
          </a:p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defRPr/>
            </a:pPr>
            <a:r>
              <a:rPr lang="pt-BR" sz="2400" b="1" kern="0" dirty="0">
                <a:solidFill>
                  <a:srgbClr val="006699"/>
                </a:solidFill>
                <a:latin typeface="+mn-lt"/>
              </a:rPr>
              <a:t>Prof. Luiz Alberto Parra  </a:t>
            </a:r>
            <a:endParaRPr lang="pt-BR" sz="2400" b="1" kern="0" dirty="0">
              <a:latin typeface="+mn-lt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3850" y="745540"/>
            <a:ext cx="61923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>
                <a:solidFill>
                  <a:srgbClr val="006699"/>
                </a:solidFill>
              </a:rPr>
              <a:t>Lógica de Programação</a:t>
            </a:r>
            <a:endParaRPr lang="pt-BR" sz="28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54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68313" y="2068276"/>
            <a:ext cx="8207375" cy="3520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pt-BR" sz="2400" b="1" dirty="0">
                <a:solidFill>
                  <a:srgbClr val="006699"/>
                </a:solidFill>
              </a:rPr>
              <a:t>Estrutura em Portugol:</a:t>
            </a:r>
          </a:p>
          <a:p>
            <a:r>
              <a:rPr lang="pt-BR" sz="2400" dirty="0"/>
              <a:t>  </a:t>
            </a:r>
            <a:endParaRPr lang="pt-BR" sz="2400" dirty="0">
              <a:solidFill>
                <a:srgbClr val="006699"/>
              </a:solidFill>
            </a:endParaRPr>
          </a:p>
          <a:p>
            <a:r>
              <a:rPr lang="pt-BR" sz="2000" b="1" dirty="0">
                <a:solidFill>
                  <a:srgbClr val="006699"/>
                </a:solidFill>
              </a:rPr>
              <a:t>               </a:t>
            </a:r>
            <a:r>
              <a:rPr lang="pt-BR" sz="2000" b="1" dirty="0">
                <a:solidFill>
                  <a:srgbClr val="FF0000"/>
                </a:solidFill>
              </a:rPr>
              <a:t>Escolha 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     Caso   variável  =  X1 :  Comando-1;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     Caso   variável  =  X2 :  Comando-2;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      :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      :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     Caso   variável  =  Xn :  Comando-n;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     Senão :                           Comando-p;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          Fim-escolha;  	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765076"/>
            <a:ext cx="6192688" cy="647700"/>
          </a:xfrm>
        </p:spPr>
        <p:txBody>
          <a:bodyPr/>
          <a:lstStyle/>
          <a:p>
            <a:pPr algn="ctr"/>
            <a:r>
              <a:rPr lang="pt-BR" sz="2800" b="1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174671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68313" y="1124744"/>
            <a:ext cx="8207375" cy="1520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pt-BR" sz="2400" b="1" dirty="0">
                <a:solidFill>
                  <a:srgbClr val="006699"/>
                </a:solidFill>
              </a:rPr>
              <a:t>Estrutura em Diagrama de Blocos:</a:t>
            </a:r>
          </a:p>
          <a:p>
            <a:r>
              <a:rPr lang="pt-BR" sz="2000" dirty="0"/>
              <a:t>  </a:t>
            </a:r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6523" y="2420887"/>
            <a:ext cx="4657725" cy="360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>
                <a:solidFill>
                  <a:srgbClr val="006699"/>
                </a:solidFill>
                <a:latin typeface="Arial" charset="0"/>
              </a:rPr>
              <a:t>Seleção de Múltipla Escolha</a:t>
            </a:r>
            <a:endParaRPr lang="pt-BR" sz="2800" b="1" kern="0" dirty="0">
              <a:solidFill>
                <a:srgbClr val="0066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61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68313" y="1927860"/>
            <a:ext cx="8207375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pt-BR" sz="2000" b="1" dirty="0">
                <a:solidFill>
                  <a:srgbClr val="006699"/>
                </a:solidFill>
              </a:rPr>
              <a:t>Exemplo: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sz="2000" b="1" dirty="0">
                <a:solidFill>
                  <a:srgbClr val="006699"/>
                </a:solidFill>
              </a:rPr>
              <a:t>     Algoritmo que, dado a Idade de um nadador, classifique-o nas categorias:</a:t>
            </a:r>
          </a:p>
          <a:p>
            <a:r>
              <a:rPr lang="pt-BR" sz="2000" b="1" dirty="0">
                <a:solidFill>
                  <a:srgbClr val="006699"/>
                </a:solidFill>
              </a:rPr>
              <a:t> </a:t>
            </a:r>
          </a:p>
          <a:p>
            <a:pPr lvl="3"/>
            <a:r>
              <a:rPr lang="pt-BR" sz="2000" b="1" dirty="0">
                <a:solidFill>
                  <a:srgbClr val="006699"/>
                </a:solidFill>
              </a:rPr>
              <a:t>        Fraldinha:  até  4  anos.</a:t>
            </a:r>
          </a:p>
          <a:p>
            <a:pPr lvl="3"/>
            <a:r>
              <a:rPr lang="pt-BR" sz="2000" b="1" dirty="0">
                <a:solidFill>
                  <a:srgbClr val="006699"/>
                </a:solidFill>
              </a:rPr>
              <a:t>        Infantil:       5  a  10  anos.</a:t>
            </a:r>
          </a:p>
          <a:p>
            <a:pPr lvl="3"/>
            <a:r>
              <a:rPr lang="pt-BR" sz="2000" b="1" dirty="0">
                <a:solidFill>
                  <a:srgbClr val="006699"/>
                </a:solidFill>
              </a:rPr>
              <a:t>        Juvenil:      11  a  17  anos.</a:t>
            </a:r>
          </a:p>
          <a:p>
            <a:pPr lvl="3"/>
            <a:r>
              <a:rPr lang="pt-BR" sz="2000" b="1" dirty="0">
                <a:solidFill>
                  <a:srgbClr val="006699"/>
                </a:solidFill>
              </a:rPr>
              <a:t>        Senior:       maiores de 18 anos, inclusive.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1000" b="1" dirty="0">
              <a:solidFill>
                <a:srgbClr val="006699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>
                <a:solidFill>
                  <a:srgbClr val="006699"/>
                </a:solidFill>
                <a:latin typeface="Arial" charset="0"/>
              </a:rPr>
              <a:t>Seleção de Múltipla Escolha</a:t>
            </a:r>
            <a:endParaRPr lang="pt-BR" sz="2800" b="1" kern="0" dirty="0">
              <a:solidFill>
                <a:srgbClr val="0066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7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68313" y="1233328"/>
            <a:ext cx="8207375" cy="1889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6699"/>
                </a:solidFill>
              </a:rPr>
              <a:t>Exemplo - Portugol:</a:t>
            </a: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sz="2400" b="1" dirty="0">
                <a:solidFill>
                  <a:srgbClr val="006699"/>
                </a:solidFill>
              </a:rPr>
              <a:t> </a:t>
            </a:r>
            <a:r>
              <a:rPr lang="pt-BR" sz="2400" dirty="0"/>
              <a:t>                       </a:t>
            </a:r>
          </a:p>
          <a:p>
            <a:r>
              <a:rPr lang="pt-BR" sz="2400" dirty="0"/>
              <a:t>                      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2780928"/>
            <a:ext cx="447675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39552" y="1929021"/>
            <a:ext cx="8136904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pt-BR" sz="2400" b="1" dirty="0">
                <a:solidFill>
                  <a:srgbClr val="006699"/>
                </a:solidFill>
              </a:rPr>
              <a:t>Estrutura em Java: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As instruções switch - case - break - default são utilizadas em tomadas de decisão onde o número de possibilidades é grande, normalmente maior que duas, senão utilizamos o if - else.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Utilizamos para diminuir a complexidade do if - else encadeado.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Colocamos várias opções e vários comandos dentro do comando switch, todas as possibilidades de nosso aplicativo ou todas as opções ou rumos que nossos programas possam tomar.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206639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39552" y="1878498"/>
            <a:ext cx="813690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006699"/>
                </a:solidFill>
              </a:rPr>
              <a:t>A sintaxe em Java:</a:t>
            </a:r>
          </a:p>
          <a:p>
            <a:pPr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lvl="3" algn="just">
              <a:defRPr/>
            </a:pPr>
            <a:r>
              <a:rPr lang="pt-BR" b="1" dirty="0">
                <a:solidFill>
                  <a:srgbClr val="006699"/>
                </a:solidFill>
              </a:rPr>
              <a:t>	</a:t>
            </a:r>
            <a:r>
              <a:rPr lang="pt-BR" sz="1600" b="1" dirty="0">
                <a:solidFill>
                  <a:srgbClr val="FF0000"/>
                </a:solidFill>
              </a:rPr>
              <a:t>switch (variável) {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case constante_1: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	instruções_1;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	break;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case constante_2:	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	instruções_2;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	 break;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................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 case constante_n:	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	instruções_n;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	 break;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	default: 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                                         instruções_p;</a:t>
            </a:r>
          </a:p>
          <a:p>
            <a:pPr lvl="3" algn="just">
              <a:defRPr/>
            </a:pPr>
            <a:r>
              <a:rPr lang="pt-BR" sz="1600" b="1" dirty="0">
                <a:solidFill>
                  <a:srgbClr val="FF0000"/>
                </a:solidFill>
              </a:rPr>
              <a:t>	}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130082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39552" y="2132856"/>
            <a:ext cx="813690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2000" b="1" dirty="0">
                <a:solidFill>
                  <a:srgbClr val="006699"/>
                </a:solidFill>
              </a:rPr>
              <a:t>Funcionamento: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A variável é avaliada.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Se o valor for igual a alguma das constantes que seguem o case, então são executadas as instruções que seguem o referido case.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Se o valor da expressão não for igual a nenhuma das constantes apresentadas pelos case, então são executadas as instruções que seguem o default.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244931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39552" y="2257702"/>
            <a:ext cx="813690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2000" b="1" dirty="0">
                <a:solidFill>
                  <a:srgbClr val="006699"/>
                </a:solidFill>
              </a:rPr>
              <a:t>Funcionamento: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O default é opcional. No caso de o valor da expressão não ser igual a nenhum dos case, nada é executado terminando o switch.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O programa continua na instrução seguinte do switch.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Importante: Em cada case do switch só uma única constante pode estar associada ao case.</a:t>
            </a: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4671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39552" y="2204864"/>
            <a:ext cx="81369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006699"/>
                </a:solidFill>
              </a:rPr>
              <a:t>Funcionamento: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Se executarmos o programa sem o break, ele terá um comportamento estranho, testando todas as possibilidades dos case, mesmo que tenha sido atendida uma das condições.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6699"/>
                </a:solidFill>
              </a:rPr>
              <a:t>Para que isso não ocorra, utilizamos a instrução break, que permite parar a execução dentro de um switch, continuando o programa a partir da próxima instrução.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6699"/>
                </a:solidFill>
              </a:rPr>
              <a:t>O switch é mais eficiente que um encadeamento de if - else - </a:t>
            </a:r>
            <a:r>
              <a:rPr lang="pt-BR" sz="2000" b="1" dirty="0" err="1">
                <a:solidFill>
                  <a:srgbClr val="006699"/>
                </a:solidFill>
              </a:rPr>
              <a:t>if</a:t>
            </a:r>
            <a:r>
              <a:rPr lang="pt-BR" sz="2000" b="1" dirty="0">
                <a:solidFill>
                  <a:srgbClr val="006699"/>
                </a:solidFill>
              </a:rPr>
              <a:t>.</a:t>
            </a: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124218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39552" y="2107297"/>
            <a:ext cx="813690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pt-BR" b="1" dirty="0">
                <a:solidFill>
                  <a:srgbClr val="006699"/>
                </a:solidFill>
              </a:rPr>
              <a:t>Exemplo - Java: Escreva um programa que indique qual o estado civil correspondente a um caracter escrito em maiúscula ou minúscula, a saber: </a:t>
            </a:r>
          </a:p>
          <a:p>
            <a:pPr lvl="2"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lvl="2">
              <a:defRPr/>
            </a:pPr>
            <a:r>
              <a:rPr lang="pt-BR" b="1" dirty="0">
                <a:solidFill>
                  <a:srgbClr val="006699"/>
                </a:solidFill>
              </a:rPr>
              <a:t>C - Casado</a:t>
            </a:r>
          </a:p>
          <a:p>
            <a:pPr lvl="2"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lvl="2">
              <a:defRPr/>
            </a:pPr>
            <a:r>
              <a:rPr lang="pt-BR" b="1" dirty="0">
                <a:solidFill>
                  <a:srgbClr val="006699"/>
                </a:solidFill>
              </a:rPr>
              <a:t>S - Solteiro</a:t>
            </a:r>
          </a:p>
          <a:p>
            <a:pPr lvl="2"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lvl="2">
              <a:defRPr/>
            </a:pPr>
            <a:r>
              <a:rPr lang="pt-BR" b="1" dirty="0">
                <a:solidFill>
                  <a:srgbClr val="006699"/>
                </a:solidFill>
              </a:rPr>
              <a:t>D - Divorciado</a:t>
            </a:r>
          </a:p>
          <a:p>
            <a:pPr lvl="2"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lvl="2">
              <a:defRPr/>
            </a:pPr>
            <a:r>
              <a:rPr lang="pt-BR" b="1" dirty="0">
                <a:solidFill>
                  <a:srgbClr val="006699"/>
                </a:solidFill>
              </a:rPr>
              <a:t>V - Viuvo</a:t>
            </a:r>
          </a:p>
          <a:p>
            <a:pPr lvl="2">
              <a:defRPr/>
            </a:pPr>
            <a:r>
              <a:rPr lang="pt-BR" b="1" dirty="0">
                <a:solidFill>
                  <a:srgbClr val="006699"/>
                </a:solidFill>
              </a:rPr>
              <a:t> </a:t>
            </a:r>
          </a:p>
          <a:p>
            <a:pPr lvl="2">
              <a:defRPr/>
            </a:pPr>
            <a:r>
              <a:rPr lang="pt-BR" b="1" dirty="0">
                <a:solidFill>
                  <a:srgbClr val="006699"/>
                </a:solidFill>
              </a:rPr>
              <a:t>caso contrário, Estado civil incorreto.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lvl="1" algn="just">
              <a:defRPr/>
            </a:pPr>
            <a:r>
              <a:rPr lang="pt-BR" b="1" dirty="0">
                <a:solidFill>
                  <a:srgbClr val="006699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232800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2051720" y="1844824"/>
            <a:ext cx="8136904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import java.util.Scanner;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public class EstadoCivil {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public static void main(String args[])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{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char Est_civil;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Scanner entrada = new Scanner(System.in);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System.out.print("Digite seu estado civil: ");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Est_civil = entrada.nextLine().charAt(0); 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switch( Est_civil )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{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case 'C': case 'c':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System.out.println("Casado");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break;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case 'S': case 's':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System.out.println("Solteiro");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break;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case 'D': case 'd':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System.out.println("Divorciado");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break;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case 'V': case 'v':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System.out.println("Viuvo");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break;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default: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        System.out.println("Estado civil incorreto");          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      }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} </a:t>
            </a:r>
          </a:p>
          <a:p>
            <a:pPr lvl="2" algn="just">
              <a:defRPr/>
            </a:pPr>
            <a:r>
              <a:rPr lang="pt-BR" sz="1000" b="1" dirty="0">
                <a:solidFill>
                  <a:srgbClr val="FF0000"/>
                </a:solidFill>
              </a:rPr>
              <a:t>  }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lvl="2"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sz="1000" b="1" dirty="0">
              <a:solidFill>
                <a:srgbClr val="006699"/>
              </a:solidFill>
            </a:endParaRPr>
          </a:p>
          <a:p>
            <a:pPr lvl="1" algn="just">
              <a:defRPr/>
            </a:pPr>
            <a:r>
              <a:rPr lang="pt-BR" b="1" dirty="0">
                <a:solidFill>
                  <a:srgbClr val="006699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23528" y="76507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</p:txBody>
      </p:sp>
    </p:spTree>
    <p:extLst>
      <p:ext uri="{BB962C8B-B14F-4D97-AF65-F5344CB8AC3E}">
        <p14:creationId xmlns:p14="http://schemas.microsoft.com/office/powerpoint/2010/main" val="955061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0" y="4132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71" name="Text Box 25"/>
          <p:cNvSpPr txBox="1">
            <a:spLocks noChangeArrowheads="1"/>
          </p:cNvSpPr>
          <p:nvPr/>
        </p:nvSpPr>
        <p:spPr bwMode="auto">
          <a:xfrm>
            <a:off x="582638" y="1700808"/>
            <a:ext cx="806132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pt-BR" b="1" dirty="0">
              <a:solidFill>
                <a:schemeClr val="folHlin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t-BR" b="1" dirty="0">
                <a:solidFill>
                  <a:srgbClr val="006699"/>
                </a:solidFill>
              </a:rPr>
              <a:t>Fazer um programa em Java que leia um Código e identifique e mostre a Opção escolhida, a saber: 1 - Inclusão / 2 - Alteração / 3 - Exclusão, senão Opção Inválida.</a:t>
            </a:r>
          </a:p>
          <a:p>
            <a:pPr marL="342900" lvl="0" indent="-342900">
              <a:buFont typeface="+mj-lt"/>
              <a:buAutoNum type="arabicPeriod"/>
            </a:pPr>
            <a:endParaRPr lang="pt-BR" b="1" dirty="0">
              <a:solidFill>
                <a:srgbClr val="006699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t-BR" b="1" dirty="0">
                <a:solidFill>
                  <a:srgbClr val="006699"/>
                </a:solidFill>
              </a:rPr>
              <a:t>Desenvolver um programa em Java que, dados dois números e o sinal da operação, realize uma das 4 operações básicas (adição, subtração, multiplicação e divisão), utilizando switch e case..</a:t>
            </a:r>
          </a:p>
          <a:p>
            <a:pPr marL="342900" lvl="0" indent="-342900">
              <a:buFont typeface="+mj-lt"/>
              <a:buAutoNum type="arabicPeriod"/>
            </a:pPr>
            <a:endParaRPr lang="pt-BR" b="1" dirty="0">
              <a:solidFill>
                <a:srgbClr val="006699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t-BR" b="1" dirty="0">
                <a:solidFill>
                  <a:srgbClr val="006699"/>
                </a:solidFill>
              </a:rPr>
              <a:t>Desenvolver um programa em Java que receba um número, referente ao mês do ano, e informe quantos dias aquele mês possui.</a:t>
            </a:r>
          </a:p>
          <a:p>
            <a:pPr marL="342900" lvl="0" indent="-342900">
              <a:buFont typeface="+mj-lt"/>
              <a:buAutoNum type="arabicPeriod"/>
            </a:pPr>
            <a:endParaRPr lang="pt-BR" b="1" dirty="0">
              <a:solidFill>
                <a:srgbClr val="006699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b="1" dirty="0">
                <a:solidFill>
                  <a:srgbClr val="006699"/>
                </a:solidFill>
              </a:rPr>
              <a:t>Fazer um programa que, dado a idade de um nadador, classifique-o nas categorias: até 4 anos - Fraldinha, até 10 anos - Infantil, até 17 anos - Juvenil, e acima de 17 anos - Adulto.</a:t>
            </a:r>
          </a:p>
          <a:p>
            <a:pPr marL="342900" lvl="0" indent="-342900">
              <a:buFont typeface="+mj-lt"/>
              <a:buAutoNum type="arabicPeriod"/>
            </a:pP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376498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5988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0" y="4132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871" name="Text Box 25"/>
          <p:cNvSpPr txBox="1">
            <a:spLocks noChangeArrowheads="1"/>
          </p:cNvSpPr>
          <p:nvPr/>
        </p:nvSpPr>
        <p:spPr bwMode="auto">
          <a:xfrm>
            <a:off x="582638" y="1916832"/>
            <a:ext cx="8061328" cy="4789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 startAt="5"/>
            </a:pPr>
            <a:r>
              <a:rPr lang="pt-BR" b="1" dirty="0">
                <a:solidFill>
                  <a:srgbClr val="006699"/>
                </a:solidFill>
              </a:rPr>
              <a:t>Elaborar um programa que calcula o novo salário de um funcionário de uma empresa, reajustado de acordo com a sua função, a saber: Função = 1:  50%; Função = 2:  50%; Função = 3:  30%; Função = 4:  20%; Demais Funções: 10%.</a:t>
            </a:r>
          </a:p>
          <a:p>
            <a:pPr marL="342900" lvl="0" indent="-342900">
              <a:buFont typeface="+mj-lt"/>
              <a:buAutoNum type="arabicPeriod" startAt="5"/>
            </a:pPr>
            <a:endParaRPr lang="pt-BR" sz="1000" b="1" dirty="0">
              <a:solidFill>
                <a:srgbClr val="006699"/>
              </a:solidFill>
            </a:endParaRPr>
          </a:p>
          <a:p>
            <a:pPr marL="342900" lvl="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6"/>
              <a:defRPr/>
            </a:pPr>
            <a:r>
              <a:rPr lang="pt-BR" b="1" dirty="0">
                <a:solidFill>
                  <a:srgbClr val="006699"/>
                </a:solidFill>
              </a:rPr>
              <a:t>Construa um algoritmo/programa que, tendo como dados de entrada o código de origem de um produto, imprima  a procedência do mesmo. Caso o código não seja nenhum dos especificados, considerar o produto como Importado. </a:t>
            </a:r>
          </a:p>
          <a:p>
            <a:pPr marL="171450" lvl="0" indent="-1714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§"/>
              <a:defRPr/>
            </a:pPr>
            <a:r>
              <a:rPr lang="pt-BR" sz="800" b="1" dirty="0">
                <a:solidFill>
                  <a:srgbClr val="006699"/>
                </a:solidFill>
              </a:rPr>
              <a:t>  </a:t>
            </a:r>
            <a:r>
              <a:rPr lang="pt-BR" b="1" dirty="0">
                <a:solidFill>
                  <a:srgbClr val="006699"/>
                </a:solidFill>
              </a:rPr>
              <a:t>     Códigos de origem e suas respectivas procedências: </a:t>
            </a:r>
          </a:p>
          <a:p>
            <a:pPr lvl="6"/>
            <a:r>
              <a:rPr lang="pt-BR" b="1" dirty="0">
                <a:solidFill>
                  <a:srgbClr val="006699"/>
                </a:solidFill>
              </a:rPr>
              <a:t>    	1  -  Sul                        </a:t>
            </a:r>
          </a:p>
          <a:p>
            <a:pPr lvl="6"/>
            <a:r>
              <a:rPr lang="pt-BR" b="1" dirty="0">
                <a:solidFill>
                  <a:srgbClr val="006699"/>
                </a:solidFill>
              </a:rPr>
              <a:t>    	2  -  Norte                    </a:t>
            </a:r>
          </a:p>
          <a:p>
            <a:pPr lvl="6"/>
            <a:r>
              <a:rPr lang="pt-BR" b="1" dirty="0">
                <a:solidFill>
                  <a:srgbClr val="006699"/>
                </a:solidFill>
              </a:rPr>
              <a:t>    	3  -  Leste                      </a:t>
            </a:r>
          </a:p>
          <a:p>
            <a:pPr lvl="6"/>
            <a:r>
              <a:rPr lang="pt-BR" b="1" dirty="0">
                <a:solidFill>
                  <a:srgbClr val="006699"/>
                </a:solidFill>
              </a:rPr>
              <a:t>    	4  -  Oeste                   </a:t>
            </a: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  <a:p>
            <a:pPr marL="342900" lvl="0" indent="-342900">
              <a:buFont typeface="+mj-lt"/>
              <a:buAutoNum type="arabicPeriod" startAt="5"/>
            </a:pPr>
            <a:endParaRPr lang="pt-BR" b="1" dirty="0">
              <a:solidFill>
                <a:srgbClr val="006699"/>
              </a:solidFill>
            </a:endParaRP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1232396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1089" y="1556792"/>
            <a:ext cx="8207375" cy="475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7"/>
              <a:defRPr/>
            </a:pPr>
            <a:r>
              <a:rPr lang="pt-BR" b="1" dirty="0">
                <a:solidFill>
                  <a:srgbClr val="006699"/>
                </a:solidFill>
              </a:rPr>
              <a:t>Identificar, através de um algoritmo/programa, a turma de educação física correspondente às características do aluno:</a:t>
            </a:r>
          </a:p>
          <a:p>
            <a:r>
              <a:rPr lang="pt-BR" sz="800" b="1" dirty="0">
                <a:solidFill>
                  <a:srgbClr val="006699"/>
                </a:solidFill>
              </a:rPr>
              <a:t> 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Sexo = M (masculino) e idade até 20 anos, inclusive: Turma M-1.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Sexo = M e idade maior do que 20 anos: Turma M-2.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Sexo = F e idade até 20 anos, inclusive:  Turma F-1.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Sexo = F e idade maior do que 20 anos:  Turma F-2.</a:t>
            </a:r>
          </a:p>
          <a:p>
            <a:r>
              <a:rPr lang="pt-BR" sz="800" b="1" dirty="0">
                <a:solidFill>
                  <a:srgbClr val="006699"/>
                </a:solidFill>
              </a:rPr>
              <a:t> </a:t>
            </a: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8"/>
              <a:defRPr/>
            </a:pPr>
            <a:r>
              <a:rPr lang="pt-BR" b="1" dirty="0">
                <a:solidFill>
                  <a:srgbClr val="006699"/>
                </a:solidFill>
              </a:rPr>
              <a:t>Construir um algoritmo/programa que calcule e mostre o novo preço de venda de um produto, a partir do tipo de produto e do seu atual preço de venda:</a:t>
            </a:r>
            <a:r>
              <a:rPr lang="pt-BR" sz="800" b="1" dirty="0">
                <a:solidFill>
                  <a:srgbClr val="006699"/>
                </a:solidFill>
              </a:rPr>
              <a:t>:</a:t>
            </a:r>
          </a:p>
          <a:p>
            <a:r>
              <a:rPr lang="pt-BR" sz="800" b="1" dirty="0">
                <a:solidFill>
                  <a:srgbClr val="006699"/>
                </a:solidFill>
              </a:rPr>
              <a:t> 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Tipos 1, 2, 3 e 4: Reajuste de 10%.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Tipos 5 a 15:       Reajuste de 5%.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Tipos 16 a 30:     Reajuste de 2%.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Demais tipos:    Reajuste de 1%.</a:t>
            </a: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2650022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1089" y="2490074"/>
            <a:ext cx="8207375" cy="4384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lvl="0" indent="-342900">
              <a:buFont typeface="+mj-lt"/>
              <a:buAutoNum type="arabicPeriod" startAt="9"/>
            </a:pPr>
            <a:r>
              <a:rPr lang="pt-BR" b="1" dirty="0">
                <a:solidFill>
                  <a:srgbClr val="006699"/>
                </a:solidFill>
              </a:rPr>
              <a:t>Faça um algoritmo/programa que leia um número inteiro entre 1 e 7 e mostre o dia da semana correspondente a este número, isto é, domingo se 1, segunda-feira se 2, e assim por diante.</a:t>
            </a: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9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9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9"/>
              <a:defRPr/>
            </a:pPr>
            <a:r>
              <a:rPr lang="pt-BR" b="1" dirty="0">
                <a:solidFill>
                  <a:srgbClr val="006699"/>
                </a:solidFill>
              </a:rPr>
              <a:t>Faça um algoritmo/programa que leia um número entre 0 e 10, e escreva este número por extenso. </a:t>
            </a: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9"/>
              <a:defRPr/>
            </a:pPr>
            <a:endParaRPr lang="pt-BR" b="1" dirty="0">
              <a:solidFill>
                <a:srgbClr val="006699"/>
              </a:solidFill>
            </a:endParaRPr>
          </a:p>
          <a:p>
            <a:r>
              <a:rPr lang="pt-BR" sz="1050" b="1" dirty="0">
                <a:solidFill>
                  <a:srgbClr val="006699"/>
                </a:solidFill>
              </a:rPr>
              <a:t> </a:t>
            </a:r>
          </a:p>
          <a:p>
            <a:pPr lvl="0"/>
            <a:endParaRPr lang="pt-BR" b="1" dirty="0">
              <a:solidFill>
                <a:srgbClr val="006699"/>
              </a:solidFill>
            </a:endParaRP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  <a:p>
            <a:pPr lvl="0"/>
            <a:endParaRPr lang="pt-BR" b="1" dirty="0">
              <a:solidFill>
                <a:srgbClr val="006699"/>
              </a:solidFill>
            </a:endParaRP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425104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1089" y="1772816"/>
            <a:ext cx="8207375" cy="405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11"/>
              <a:defRPr/>
            </a:pPr>
            <a:r>
              <a:rPr lang="pt-BR" b="1" dirty="0">
                <a:solidFill>
                  <a:srgbClr val="006699"/>
                </a:solidFill>
              </a:rPr>
              <a:t>O cardápio de uma lanchonete é o seguinte: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Especificação          Código             Preço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Cachorro quente         100                10,00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Bauru simples             101                13,00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Bauru com ovo            102                15,00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Hambúrguer                 103                12,00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Cheeseburguer            104                13,00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           Refrigerante                 105                10,00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Implemente um algoritmo/programa que leia o código do item pedido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e a quantidade, e calcule o valor a ser pago por aquele lanche. </a:t>
            </a:r>
          </a:p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Considere que a cada execução somente será calculado um item.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2124860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1089" y="1844824"/>
            <a:ext cx="8207375" cy="516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+mj-lt"/>
              <a:buAutoNum type="arabicPeriod" startAt="12"/>
              <a:defRPr/>
            </a:pPr>
            <a:r>
              <a:rPr lang="pt-BR" b="1" dirty="0">
                <a:solidFill>
                  <a:srgbClr val="006699"/>
                </a:solidFill>
              </a:rPr>
              <a:t>Construa um algoritmo/programa que seja capaz de concluir qual, dentre os animais descritos, foi escolhido através de perguntas e respostas.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Animais possíveis: Leão, Cavalo, Homem, Macaco, Morcego, Baleia,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Avestruz, Pinguim, Pato, Águia, Tartaruga, Crocodilo e Cobra.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Ex.: Se: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    É mamífero?      -  Sim.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    É quadrúpede?  -  Sim.   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    É carnívoro?      -  Não.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    É herbívoro?      -  Sim.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    Então:  Animal  =  Cavalo.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337363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1089" y="1916832"/>
            <a:ext cx="8207375" cy="405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Usar  a classificação: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Mamífero: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Quadrúpede: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    Carnívoro  =  Leão.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    Herbívoro  =  Cavalo.</a:t>
            </a:r>
          </a:p>
          <a:p>
            <a:pPr lvl="0"/>
            <a:endParaRPr lang="pt-BR" b="1" dirty="0">
              <a:solidFill>
                <a:srgbClr val="006699"/>
              </a:solidFill>
            </a:endParaRPr>
          </a:p>
          <a:p>
            <a:r>
              <a:rPr lang="pt-BR" b="1" dirty="0">
                <a:solidFill>
                  <a:srgbClr val="006699"/>
                </a:solidFill>
              </a:rPr>
              <a:t>             Bípede: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     Onívoro    =  Homem  (come de tudo).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    Frutífero   =  Macaco.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Voador      =  Morcego.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Aquático   =  Baleia.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FBE53F-9A74-4988-AE89-CF311B241E45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4220045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41089" y="1792901"/>
            <a:ext cx="8207375" cy="516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000" b="1" dirty="0">
              <a:solidFill>
                <a:srgbClr val="006699"/>
              </a:solidFill>
            </a:endParaRPr>
          </a:p>
          <a:p>
            <a:pPr marL="457200" lvl="0" indent="-4572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pt-BR" b="1" dirty="0">
                <a:solidFill>
                  <a:srgbClr val="006699"/>
                </a:solidFill>
              </a:rPr>
              <a:t>       Usar  a classificação...:</a:t>
            </a:r>
          </a:p>
          <a:p>
            <a:r>
              <a:rPr lang="pt-BR" b="1" dirty="0">
                <a:solidFill>
                  <a:srgbClr val="006699"/>
                </a:solidFill>
              </a:rPr>
              <a:t>   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Ave: </a:t>
            </a:r>
          </a:p>
          <a:p>
            <a:r>
              <a:rPr lang="pt-BR" b="1" dirty="0">
                <a:solidFill>
                  <a:srgbClr val="006699"/>
                </a:solidFill>
              </a:rPr>
              <a:t>            Não Voadora: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    Tropical   =  Avestruz.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     Polar        =  Pinguim. 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Nadadora     =  Pato.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De rapina     =  Águia.</a:t>
            </a:r>
          </a:p>
          <a:p>
            <a:r>
              <a:rPr lang="pt-BR" b="1" dirty="0">
                <a:solidFill>
                  <a:srgbClr val="006699"/>
                </a:solidFill>
              </a:rPr>
              <a:t> 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Réptil: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Com casco  =  Tartaruga.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Carnívoro    =   Crocodilo.</a:t>
            </a:r>
          </a:p>
          <a:p>
            <a:pPr lvl="0"/>
            <a:r>
              <a:rPr lang="pt-BR" b="1" dirty="0">
                <a:solidFill>
                  <a:srgbClr val="006699"/>
                </a:solidFill>
              </a:rPr>
              <a:t>            Sem casco  =   Cobra.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 </a:t>
            </a:r>
          </a:p>
          <a:p>
            <a:br>
              <a:rPr lang="pt-BR" dirty="0"/>
            </a:br>
            <a:endParaRPr lang="pt-BR" b="1" dirty="0">
              <a:solidFill>
                <a:srgbClr val="006699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64060B-9CEE-4270-A8FA-6897394D1AF8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692696"/>
            <a:ext cx="6192688" cy="647700"/>
          </a:xfr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Seleção de Múltipla Escolha</a:t>
            </a:r>
          </a:p>
          <a:p>
            <a:pPr algn="ctr"/>
            <a:r>
              <a:rPr lang="pt-BR" sz="2800" b="1" kern="0" dirty="0">
                <a:solidFill>
                  <a:srgbClr val="006699"/>
                </a:solidFill>
                <a:latin typeface="Arial" charset="0"/>
              </a:rPr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503526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23850" y="745540"/>
            <a:ext cx="61923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6699"/>
                </a:solidFill>
              </a:rPr>
              <a:t>Atividades Extraclasse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3B8F56-B41F-4D14-BED7-4DE1F32B33F9}"/>
              </a:ext>
            </a:extLst>
          </p:cNvPr>
          <p:cNvSpPr/>
          <p:nvPr/>
        </p:nvSpPr>
        <p:spPr>
          <a:xfrm>
            <a:off x="539552" y="2780928"/>
            <a:ext cx="8136904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6699"/>
                </a:solidFill>
              </a:rPr>
              <a:t>Assistir ao vídeo Desvio condicional (Java) – disponível no </a:t>
            </a:r>
            <a:r>
              <a:rPr lang="pt-BR" sz="2000" b="1" dirty="0" err="1">
                <a:solidFill>
                  <a:srgbClr val="006699"/>
                </a:solidFill>
              </a:rPr>
              <a:t>OneFolio</a:t>
            </a:r>
            <a:r>
              <a:rPr lang="pt-BR" sz="2000" b="1" dirty="0">
                <a:solidFill>
                  <a:srgbClr val="006699"/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dirty="0">
              <a:solidFill>
                <a:srgbClr val="006699"/>
              </a:solidFill>
            </a:endParaRPr>
          </a:p>
          <a:p>
            <a:endParaRPr lang="pt-BR" dirty="0"/>
          </a:p>
          <a:p>
            <a:pPr lvl="1"/>
            <a:r>
              <a:rPr lang="pt-BR" sz="2000" b="1" dirty="0">
                <a:solidFill>
                  <a:srgbClr val="006699"/>
                </a:solidFill>
                <a:hlinkClick r:id="rId2"/>
              </a:rPr>
              <a:t>https://www.youtube.com/watch?v=jUSNVVrWWEk&amp;list=PLogSH2Y0MF_rPY3z4Y_yVnBBf2NTyQR--&amp;index=4</a:t>
            </a:r>
            <a:endParaRPr lang="pt-BR" sz="2000" b="1" dirty="0">
              <a:solidFill>
                <a:srgbClr val="006699"/>
              </a:solidFill>
            </a:endParaRPr>
          </a:p>
          <a:p>
            <a:pPr lvl="1"/>
            <a:r>
              <a:rPr lang="pt-BR" sz="2000" b="1" dirty="0">
                <a:solidFill>
                  <a:srgbClr val="006699"/>
                </a:solidFill>
              </a:rPr>
              <a:t> </a:t>
            </a:r>
          </a:p>
          <a:p>
            <a:pPr lvl="1"/>
            <a:endParaRPr lang="pt-BR" sz="2000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>
              <a:solidFill>
                <a:srgbClr val="0066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6047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23850" y="745540"/>
            <a:ext cx="61923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6699"/>
                </a:solidFill>
              </a:rPr>
              <a:t>Atividades Extraclasse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3B8F56-B41F-4D14-BED7-4DE1F32B33F9}"/>
              </a:ext>
            </a:extLst>
          </p:cNvPr>
          <p:cNvSpPr/>
          <p:nvPr/>
        </p:nvSpPr>
        <p:spPr>
          <a:xfrm>
            <a:off x="539552" y="2780928"/>
            <a:ext cx="81369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6699"/>
                </a:solidFill>
              </a:rPr>
              <a:t>Assistir ao vídeo Estrutura Condicional – switch...case – disponível no OneFolio: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dirty="0">
              <a:solidFill>
                <a:srgbClr val="006699"/>
              </a:solidFill>
            </a:endParaRPr>
          </a:p>
          <a:p>
            <a:endParaRPr lang="pt-BR" dirty="0"/>
          </a:p>
          <a:p>
            <a:pPr lvl="1"/>
            <a:r>
              <a:rPr lang="pt-BR" sz="2000" b="1" dirty="0">
                <a:solidFill>
                  <a:srgbClr val="006699"/>
                </a:solidFill>
                <a:hlinkClick r:id="rId2"/>
              </a:rPr>
              <a:t>https://www.youtube.com/watch?v=UJ5nYOH1NwM&amp;list=PLtchvIBq_CRQvSbv3uu66yZIQURgqUDf4&amp;index=11</a:t>
            </a:r>
            <a:endParaRPr lang="pt-BR" sz="2000" b="1" dirty="0">
              <a:solidFill>
                <a:srgbClr val="006699"/>
              </a:solidFill>
            </a:endParaRPr>
          </a:p>
          <a:p>
            <a:pPr lvl="1"/>
            <a:r>
              <a:rPr lang="pt-BR" sz="2000" b="1" dirty="0">
                <a:solidFill>
                  <a:srgbClr val="006699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dirty="0">
              <a:solidFill>
                <a:srgbClr val="0066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dirty="0">
              <a:solidFill>
                <a:srgbClr val="006699"/>
              </a:solidFill>
            </a:endParaRPr>
          </a:p>
          <a:p>
            <a:endParaRPr lang="pt-BR" dirty="0"/>
          </a:p>
          <a:p>
            <a:pPr lvl="1"/>
            <a:endParaRPr lang="pt-BR" sz="2000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>
              <a:solidFill>
                <a:srgbClr val="0066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8103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39750" y="2919715"/>
            <a:ext cx="813593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u="sng" dirty="0">
                <a:hlinkClick r:id="rId2"/>
              </a:rPr>
              <a:t>http://portal.fmu.br/</a:t>
            </a:r>
            <a:endParaRPr lang="pt-BR" sz="2000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u="sng" dirty="0">
              <a:solidFill>
                <a:srgbClr val="0066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u="sng" dirty="0">
              <a:solidFill>
                <a:srgbClr val="0066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000" b="1" u="sng" dirty="0">
              <a:solidFill>
                <a:srgbClr val="0066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000" u="sng" dirty="0">
                <a:solidFill>
                  <a:srgbClr val="006699"/>
                </a:solidFill>
                <a:hlinkClick r:id="rId3"/>
              </a:rPr>
              <a:t>https://acessobiblioteca.fmu.br/?Biblioteca=Pearson</a:t>
            </a:r>
            <a:endParaRPr lang="pt-BR" sz="2000" b="1" dirty="0">
              <a:solidFill>
                <a:srgbClr val="006699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23850" y="692696"/>
            <a:ext cx="61923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6699"/>
                </a:solidFill>
              </a:rPr>
              <a:t>Biblioteca Virtual</a:t>
            </a:r>
          </a:p>
        </p:txBody>
      </p:sp>
    </p:spTree>
    <p:extLst>
      <p:ext uri="{BB962C8B-B14F-4D97-AF65-F5344CB8AC3E}">
        <p14:creationId xmlns:p14="http://schemas.microsoft.com/office/powerpoint/2010/main" val="2002623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39750" y="2132856"/>
            <a:ext cx="8135938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2000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6699"/>
                </a:solidFill>
              </a:rPr>
              <a:t>ASCENCIO, Ana Fernanda Gomes; CAMPOS, Edilene Aparecida Veneruchi de. Fundamentos da programação de computadores: algoritmos, Pascal, C/C++ (padrão ANSI) e Java. 3ª. Edição. São Paulo: Pearson Education do Brasil, 2012 - Capítulo 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>
              <a:solidFill>
                <a:srgbClr val="006699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6699"/>
                </a:solidFill>
              </a:rPr>
              <a:t>FORBELLONE, André Luiz Villar. Lógica de programação - A construção de algoritmos e estruturas de dados. 3a. Edição. São Paulo – Prentice Hall, 2005. (Disponível na Biblioteca Virtual 3.0 e na Biblioteca da IES)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>
              <a:solidFill>
                <a:srgbClr val="006699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000" b="1" dirty="0">
              <a:solidFill>
                <a:srgbClr val="006699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23850" y="745540"/>
            <a:ext cx="61923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6699"/>
                </a:solidFill>
              </a:rPr>
              <a:t>Bibliografia</a:t>
            </a:r>
          </a:p>
        </p:txBody>
      </p:sp>
    </p:spTree>
    <p:extLst>
      <p:ext uri="{BB962C8B-B14F-4D97-AF65-F5344CB8AC3E}">
        <p14:creationId xmlns:p14="http://schemas.microsoft.com/office/powerpoint/2010/main" val="1900696915"/>
      </p:ext>
    </p:extLst>
  </p:cSld>
  <p:clrMapOvr>
    <a:masterClrMapping/>
  </p:clrMapOvr>
</p:sld>
</file>

<file path=ppt/theme/theme1.xml><?xml version="1.0" encoding="utf-8"?>
<a:theme xmlns:a="http://schemas.openxmlformats.org/drawingml/2006/main" name="Requintado">
  <a:themeElements>
    <a:clrScheme name="Requintado 5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FF6600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8A2D"/>
      </a:accent6>
      <a:hlink>
        <a:srgbClr val="FFCC00"/>
      </a:hlink>
      <a:folHlink>
        <a:srgbClr val="333399"/>
      </a:folHlink>
    </a:clrScheme>
    <a:fontScheme name="Requintado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equintado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quintado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quintado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Requintado</Template>
  <TotalTime>3571</TotalTime>
  <Words>1415</Words>
  <Application>Microsoft Office PowerPoint</Application>
  <PresentationFormat>Apresentação na tela (4:3)</PresentationFormat>
  <Paragraphs>301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Requintado</vt:lpstr>
      <vt:lpstr>2_Personalizar design</vt:lpstr>
      <vt:lpstr>1_Personalizar design</vt:lpstr>
      <vt:lpstr>Personalizar design</vt:lpstr>
      <vt:lpstr>Apresentação do PowerPoint</vt:lpstr>
      <vt:lpstr>Seleção de Múltipla Escolha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Telesp Celular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LParra</dc:creator>
  <cp:lastModifiedBy>Parra, Luiz</cp:lastModifiedBy>
  <cp:revision>294</cp:revision>
  <cp:lastPrinted>2019-03-12T17:29:08Z</cp:lastPrinted>
  <dcterms:created xsi:type="dcterms:W3CDTF">2006-07-12T18:38:21Z</dcterms:created>
  <dcterms:modified xsi:type="dcterms:W3CDTF">2019-03-12T17:29:52Z</dcterms:modified>
</cp:coreProperties>
</file>